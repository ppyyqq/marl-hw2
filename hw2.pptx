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48" r:id="rId2"/>
    <p:sldId id="344" r:id="rId3"/>
    <p:sldId id="351" r:id="rId4"/>
    <p:sldId id="352" r:id="rId5"/>
    <p:sldId id="350" r:id="rId6"/>
    <p:sldId id="353" r:id="rId7"/>
    <p:sldId id="309" r:id="rId8"/>
    <p:sldId id="328" r:id="rId9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903" userDrawn="1">
          <p15:clr>
            <a:srgbClr val="A4A3A4"/>
          </p15:clr>
        </p15:guide>
        <p15:guide id="2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84" autoAdjust="0"/>
    <p:restoredTop sz="91096"/>
  </p:normalViewPr>
  <p:slideViewPr>
    <p:cSldViewPr snapToGrid="0" showGuides="1">
      <p:cViewPr varScale="1">
        <p:scale>
          <a:sx n="115" d="100"/>
          <a:sy n="115" d="100"/>
        </p:scale>
        <p:origin x="2408" y="200"/>
      </p:cViewPr>
      <p:guideLst>
        <p:guide pos="2903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164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750A8A6-0A81-44A9-BCA1-72ABF00D9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79CA7B-9F47-45A8-9B03-353B538E78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B8634-8B22-44A9-BF76-EC6050F04131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D5C621-0080-48F4-AFE4-9E44D665D6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6FA040-9F4B-4208-A259-A50D288F82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D1725-F63C-4D68-B092-6398EEAA28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902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AB318-3EBD-4941-BBAA-D4E792B6ED5D}" type="datetimeFigureOut">
              <a:rPr kumimoji="1" lang="zh-CN" altLang="en-US" smtClean="0"/>
              <a:t>2026/5/30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7246C-BA67-1341-9B3C-B3C41949AF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800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7246C-BA67-1341-9B3C-B3C41949AFC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0524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7246C-BA67-1341-9B3C-B3C41949AFC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3419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2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4" y="259976"/>
            <a:ext cx="8416925" cy="5688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C00000"/>
              </a:buClr>
              <a:buSzPct val="60000"/>
              <a:buFont typeface="Wingdings" pitchFamily="2" charset="2"/>
              <a:buChar char="p"/>
              <a:defRPr/>
            </a:lvl1pPr>
            <a:lvl2pPr>
              <a:buClr>
                <a:srgbClr val="C00000"/>
              </a:buClr>
              <a:defRPr/>
            </a:lvl2pPr>
            <a:lvl3pPr marL="1143000" indent="-228600">
              <a:buClr>
                <a:srgbClr val="C00000"/>
              </a:buClr>
              <a:buSzPct val="40000"/>
              <a:buFont typeface="Wingdings" pitchFamily="2" charset="2"/>
              <a:buChar char="u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9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00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2" y="242260"/>
            <a:ext cx="8416925" cy="5688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78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72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74" y="248959"/>
            <a:ext cx="8416925" cy="5688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6FE30043-994B-4937-B349-3E6E68B7237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/>
          <a:lstStyle/>
          <a:p>
            <a:fld id="{82CCE3F0-44E4-45E3-84A9-C7CB44E2AD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87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950" y="945102"/>
            <a:ext cx="8413750" cy="5231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235D3FC-3101-4493-8F59-DA75798769DA}"/>
              </a:ext>
            </a:extLst>
          </p:cNvPr>
          <p:cNvSpPr txBox="1">
            <a:spLocks/>
          </p:cNvSpPr>
          <p:nvPr userDrawn="1"/>
        </p:nvSpPr>
        <p:spPr>
          <a:xfrm>
            <a:off x="2753121" y="6496361"/>
            <a:ext cx="2057400" cy="20850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400" b="1" kern="120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BD7ADC6-30BD-4A57-B412-79A6F3368C20}" type="slidenum">
              <a:rPr lang="zh-CN" altLang="en-US" sz="1600" smtClean="0"/>
              <a:pPr algn="r"/>
              <a:t>‹#›</a:t>
            </a:fld>
            <a:endParaRPr lang="zh-CN" altLang="en-US" sz="1600" dirty="0"/>
          </a:p>
        </p:txBody>
      </p:sp>
      <p:sp>
        <p:nvSpPr>
          <p:cNvPr id="21" name="矩形 6">
            <a:extLst>
              <a:ext uri="{FF2B5EF4-FFF2-40B4-BE49-F238E27FC236}">
                <a16:creationId xmlns:a16="http://schemas.microsoft.com/office/drawing/2014/main" id="{788353FA-5258-0E95-292A-5A42785406C1}"/>
              </a:ext>
            </a:extLst>
          </p:cNvPr>
          <p:cNvSpPr/>
          <p:nvPr userDrawn="1"/>
        </p:nvSpPr>
        <p:spPr>
          <a:xfrm>
            <a:off x="361950" y="303081"/>
            <a:ext cx="155925" cy="377952"/>
          </a:xfrm>
          <a:prstGeom prst="rect">
            <a:avLst/>
          </a:prstGeom>
          <a:solidFill>
            <a:srgbClr val="B30C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F76192-B594-F2AC-93A8-7376D076DF8B}"/>
              </a:ext>
            </a:extLst>
          </p:cNvPr>
          <p:cNvCxnSpPr>
            <a:cxnSpLocks/>
          </p:cNvCxnSpPr>
          <p:nvPr userDrawn="1"/>
        </p:nvCxnSpPr>
        <p:spPr>
          <a:xfrm>
            <a:off x="0" y="76016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74E958-09EE-D272-E289-DA9864DD25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880" y="6343224"/>
            <a:ext cx="2753120" cy="5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53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7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C00000"/>
        </a:buClr>
        <a:buSzPct val="60000"/>
        <a:buFont typeface="Wingdings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SzPct val="40000"/>
        <a:buFont typeface="Wingdings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nicolas.epnos@gmail.com" TargetMode="External"/><Relationship Id="rId2" Type="http://schemas.openxmlformats.org/officeDocument/2006/relationships/hyperlink" Target="https://media.icml.cc/Conferences/ICML2022/Styles/icml2022.zi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54623B6-0942-4EEC-8E77-97957BADAAE4}"/>
              </a:ext>
            </a:extLst>
          </p:cNvPr>
          <p:cNvSpPr/>
          <p:nvPr/>
        </p:nvSpPr>
        <p:spPr>
          <a:xfrm>
            <a:off x="-2" y="1991209"/>
            <a:ext cx="9144000" cy="2479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24EFE0-6DEB-487F-AC9A-DD1D508E9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22" y="2180288"/>
            <a:ext cx="9144000" cy="21011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en-GB" sz="4000" dirty="0">
                <a:solidFill>
                  <a:schemeClr val="bg1"/>
                </a:solidFill>
              </a:rPr>
              <a:t>多智能体</a:t>
            </a:r>
            <a:r>
              <a:rPr lang="zh-CN" altLang="en-US" sz="4000" dirty="0">
                <a:solidFill>
                  <a:schemeClr val="bg1"/>
                </a:solidFill>
              </a:rPr>
              <a:t>系统作业：</a:t>
            </a:r>
            <a:br>
              <a:rPr lang="en-US" altLang="zh-CN" sz="4000" dirty="0">
                <a:solidFill>
                  <a:schemeClr val="bg1"/>
                </a:solidFill>
              </a:rPr>
            </a:br>
            <a:r>
              <a:rPr lang="zh-CN" altLang="en-US" sz="4000" dirty="0">
                <a:solidFill>
                  <a:schemeClr val="bg1"/>
                </a:solidFill>
              </a:rPr>
              <a:t>多智能体工作流设计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E2C5C1-9E4D-450E-881E-165D273403C0}"/>
              </a:ext>
            </a:extLst>
          </p:cNvPr>
          <p:cNvCxnSpPr>
            <a:cxnSpLocks/>
          </p:cNvCxnSpPr>
          <p:nvPr/>
        </p:nvCxnSpPr>
        <p:spPr>
          <a:xfrm flipH="1">
            <a:off x="3" y="1955463"/>
            <a:ext cx="91344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30613EC-657A-4ACF-8839-DD7D4C834665}"/>
              </a:ext>
            </a:extLst>
          </p:cNvPr>
          <p:cNvCxnSpPr>
            <a:cxnSpLocks/>
          </p:cNvCxnSpPr>
          <p:nvPr/>
        </p:nvCxnSpPr>
        <p:spPr>
          <a:xfrm flipH="1" flipV="1">
            <a:off x="1" y="2234300"/>
            <a:ext cx="5920897" cy="5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26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实验环境</a:t>
            </a:r>
            <a:br>
              <a:rPr kumimoji="1" lang="en-US" altLang="zh-CN" sz="3600" dirty="0">
                <a:latin typeface="+mj-ea"/>
                <a:ea typeface="+mj-ea"/>
              </a:rPr>
            </a:b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4F5663-E394-38C5-CC45-0E634CDBE014}"/>
              </a:ext>
            </a:extLst>
          </p:cNvPr>
          <p:cNvSpPr/>
          <p:nvPr/>
        </p:nvSpPr>
        <p:spPr>
          <a:xfrm>
            <a:off x="460436" y="983730"/>
            <a:ext cx="8416924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课程将提供一个基于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Aflow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codebase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的基础多智能体系统。任务目标为理解该多智能体系统的设计与定义，并对相应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operator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/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workflow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进行</a:t>
            </a:r>
            <a:r>
              <a:rPr lang="zh-CN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rPr>
              <a:t>改进，从而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通过设计多智能体系统来提升基模</a:t>
            </a:r>
            <a:r>
              <a:rPr lang="zh-CN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rPr>
              <a:t>的数学与代码推理能力。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4EDCA8-9D1B-5061-6B6C-0947862BF622}"/>
              </a:ext>
            </a:extLst>
          </p:cNvPr>
          <p:cNvSpPr/>
          <p:nvPr/>
        </p:nvSpPr>
        <p:spPr>
          <a:xfrm>
            <a:off x="460436" y="5775795"/>
            <a:ext cx="8610721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参考代码：</a:t>
            </a:r>
            <a:r>
              <a:rPr lang="en" altLang="zh-CN" dirty="0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" altLang="zh-CN" dirty="0" err="1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github.com</a:t>
            </a:r>
            <a:r>
              <a:rPr lang="en" altLang="zh-CN" dirty="0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" altLang="zh-CN" dirty="0" err="1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FoundationAgents</a:t>
            </a:r>
            <a:r>
              <a:rPr lang="en" altLang="zh-CN" dirty="0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" altLang="zh-CN" dirty="0" err="1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AFlow</a:t>
            </a:r>
            <a:endParaRPr lang="en" altLang="zh-CN" b="0" dirty="0">
              <a:solidFill>
                <a:srgbClr val="222222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参考</a:t>
            </a:r>
            <a:r>
              <a:rPr lang="zh-CN" altLang="en-US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文献：</a:t>
            </a:r>
            <a:r>
              <a:rPr lang="en" altLang="zh-CN" dirty="0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" altLang="zh-CN" dirty="0" err="1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arxiv.org</a:t>
            </a:r>
            <a:r>
              <a:rPr lang="en" altLang="zh-CN" dirty="0">
                <a:solidFill>
                  <a:srgbClr val="222222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/abs/2410.10762</a:t>
            </a:r>
            <a:endParaRPr kumimoji="1" lang="en-US" altLang="zh-CN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7B1246E5-BB49-FD2B-8A5F-A537C2650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1" y="2325363"/>
            <a:ext cx="6797407" cy="33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CE72C-5445-1644-9610-8CB3F4F5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5" y="754602"/>
            <a:ext cx="8413750" cy="610339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kumimoji="1" lang="zh-CN" altLang="en-US" sz="1200" dirty="0">
                <a:latin typeface="+mj-ea"/>
                <a:ea typeface="+mj-ea"/>
              </a:rPr>
              <a:t>目标：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体验并熟悉基础的大模型多智能体系统的设计与工作方式，并用于提升基模的推理能力</a:t>
            </a:r>
            <a:r>
              <a:rPr kumimoji="1" lang="zh-CN" altLang="en-US" sz="1200" dirty="0">
                <a:latin typeface="+mj-ea"/>
                <a:ea typeface="+mj-ea"/>
              </a:rPr>
              <a:t>。</a:t>
            </a:r>
            <a:endParaRPr kumimoji="1" lang="en-US" altLang="zh-CN" sz="12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500" b="1" dirty="0">
                <a:latin typeface="+mj-ea"/>
                <a:ea typeface="+mj-ea"/>
              </a:rPr>
              <a:t>一、论文阅读与代码理解</a:t>
            </a:r>
            <a:endParaRPr kumimoji="1" lang="en-US" altLang="zh-CN" sz="1500" b="1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阅读</a:t>
            </a:r>
            <a:r>
              <a:rPr kumimoji="1" lang="en-US" altLang="zh-CN" sz="1300" dirty="0" err="1">
                <a:latin typeface="+mj-ea"/>
                <a:ea typeface="+mj-ea"/>
              </a:rPr>
              <a:t>Aflow</a:t>
            </a:r>
            <a:r>
              <a:rPr kumimoji="1" lang="zh-CN" altLang="en-US" sz="1300" dirty="0">
                <a:latin typeface="+mj-ea"/>
                <a:ea typeface="+mj-ea"/>
              </a:rPr>
              <a:t>的论文与代码，在报告中简要介绍工程上构建基于大模型的多智能体系统的方法。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理解并熟悉该系统的结构与各种定义，包括提供的基线</a:t>
            </a:r>
            <a:r>
              <a:rPr kumimoji="1" lang="en-US" altLang="zh-CN" sz="1400" dirty="0">
                <a:latin typeface="+mj-ea"/>
                <a:ea typeface="+mj-ea"/>
              </a:rPr>
              <a:t>operator</a:t>
            </a:r>
            <a:r>
              <a:rPr kumimoji="1" lang="zh-CN" altLang="en-US" sz="1400" dirty="0">
                <a:latin typeface="+mj-ea"/>
                <a:ea typeface="+mj-ea"/>
              </a:rPr>
              <a:t>与</a:t>
            </a:r>
            <a:r>
              <a:rPr kumimoji="1" lang="en-US" altLang="zh-CN" sz="1400" dirty="0">
                <a:latin typeface="+mj-ea"/>
                <a:ea typeface="+mj-ea"/>
              </a:rPr>
              <a:t>workflow</a:t>
            </a:r>
            <a:r>
              <a:rPr kumimoji="1" lang="zh-CN" altLang="en-US" sz="1400" dirty="0">
                <a:latin typeface="+mj-ea"/>
                <a:ea typeface="+mj-ea"/>
              </a:rPr>
              <a:t>设计</a:t>
            </a:r>
            <a:r>
              <a:rPr kumimoji="1" lang="zh-CN" altLang="en-US" sz="1300" dirty="0">
                <a:latin typeface="+mj-ea"/>
                <a:ea typeface="+mj-ea"/>
              </a:rPr>
              <a:t>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500" b="1" dirty="0">
                <a:latin typeface="+mj-ea"/>
                <a:ea typeface="+mj-ea"/>
              </a:rPr>
              <a:t>二、环境配置与算法复现</a:t>
            </a:r>
            <a:endParaRPr kumimoji="1" lang="en-US" altLang="zh-CN" sz="1500" b="1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根据</a:t>
            </a:r>
            <a:r>
              <a:rPr kumimoji="1" lang="en-US" altLang="zh-CN" sz="1300" dirty="0" err="1">
                <a:latin typeface="+mj-ea"/>
                <a:ea typeface="+mj-ea"/>
              </a:rPr>
              <a:t>Aflow</a:t>
            </a:r>
            <a:r>
              <a:rPr kumimoji="1" lang="zh-CN" altLang="en-US" sz="1300" dirty="0">
                <a:latin typeface="+mj-ea"/>
                <a:ea typeface="+mj-ea"/>
              </a:rPr>
              <a:t>库的</a:t>
            </a:r>
            <a:r>
              <a:rPr kumimoji="1" lang="en-US" altLang="zh-CN" sz="1300" dirty="0">
                <a:latin typeface="+mj-ea"/>
                <a:ea typeface="+mj-ea"/>
              </a:rPr>
              <a:t>README</a:t>
            </a:r>
            <a:r>
              <a:rPr kumimoji="1" lang="zh-CN" altLang="en-US" sz="1300" dirty="0">
                <a:latin typeface="+mj-ea"/>
                <a:ea typeface="+mj-ea"/>
              </a:rPr>
              <a:t>，安装环境，注意安装流程要完整看完，不要漏掉任何一步，在报告中记录安装过程。在环境的不同设定下运行仅使用基模（包括使用</a:t>
            </a:r>
            <a:r>
              <a:rPr kumimoji="1" lang="en-US" altLang="zh-CN" sz="1300" dirty="0" err="1">
                <a:latin typeface="+mj-ea"/>
                <a:ea typeface="+mj-ea"/>
              </a:rPr>
              <a:t>CoT</a:t>
            </a:r>
            <a:r>
              <a:rPr kumimoji="1" lang="zh-CN" altLang="en-US" sz="1300" dirty="0">
                <a:latin typeface="+mj-ea"/>
                <a:ea typeface="+mj-ea"/>
              </a:rPr>
              <a:t>）的结果（可选运行</a:t>
            </a:r>
            <a:r>
              <a:rPr kumimoji="1" lang="en-US" altLang="zh-CN" sz="1300" dirty="0" err="1">
                <a:latin typeface="+mj-ea"/>
                <a:ea typeface="+mj-ea"/>
              </a:rPr>
              <a:t>Aflow</a:t>
            </a:r>
            <a:r>
              <a:rPr kumimoji="1" lang="zh-CN" altLang="en-US" sz="1300" dirty="0">
                <a:latin typeface="+mj-ea"/>
                <a:ea typeface="+mj-ea"/>
              </a:rPr>
              <a:t>），进行实验分析。结果图包括但不限于：系统的结构解释，各种参数设定与基模实验结果等。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学习、借鉴</a:t>
            </a:r>
            <a:r>
              <a:rPr kumimoji="1" lang="en-US" altLang="zh-CN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Aflow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kumimoji="1"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operator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en-US" altLang="zh-CN" sz="1300" dirty="0">
                <a:latin typeface="+mj-ea"/>
                <a:ea typeface="+mj-ea"/>
              </a:rPr>
              <a:t>workflow</a:t>
            </a:r>
            <a:r>
              <a:rPr kumimoji="1" lang="zh-CN" altLang="en-US" sz="1300" dirty="0">
                <a:latin typeface="+mj-ea"/>
                <a:ea typeface="+mj-ea"/>
              </a:rPr>
              <a:t>设计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，针对</a:t>
            </a:r>
            <a:r>
              <a:rPr kumimoji="1"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MATH-500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kumimoji="1" lang="en-US" altLang="zh-CN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HumanEval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两个</a:t>
            </a:r>
            <a:r>
              <a:rPr kumimoji="1"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benchmark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，设计新多智能体系统</a:t>
            </a:r>
            <a:r>
              <a:rPr kumimoji="1" lang="zh-CN" altLang="en-US" sz="13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并给出设计原因及设计方案。改进方案包括但不限于自己设计新</a:t>
            </a:r>
            <a:r>
              <a:rPr kumimoji="1"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operator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，构建</a:t>
            </a:r>
            <a:r>
              <a:rPr kumimoji="1"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（可选改进</a:t>
            </a:r>
            <a:r>
              <a:rPr kumimoji="1" lang="en-US" altLang="zh-CN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自动化搜索算法）等。要求设计的多智能体系统超过仅使用基模（包括</a:t>
            </a:r>
            <a:r>
              <a:rPr kumimoji="1" lang="en-US" altLang="zh-CN" sz="13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CoT</a:t>
            </a:r>
            <a:r>
              <a:rPr kumimoji="1" lang="zh-CN" altLang="en-US" sz="1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）的结果。报告中应包括但不限于：算法设计方案，结果对比图表，</a:t>
            </a:r>
            <a:r>
              <a:rPr kumimoji="1" lang="zh-CN" altLang="en-US" sz="13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消融结果等。 </a:t>
            </a:r>
            <a:endParaRPr kumimoji="1" lang="en-US" altLang="zh-CN" sz="1300" dirty="0">
              <a:latin typeface="+mj-ea"/>
              <a:ea typeface="+mj-ea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500" b="1" dirty="0">
                <a:latin typeface="+mj-ea"/>
                <a:ea typeface="+mj-ea"/>
              </a:rPr>
              <a:t>三、自由探索（</a:t>
            </a:r>
            <a:r>
              <a:rPr kumimoji="1" lang="en-US" altLang="zh-CN" sz="1500" b="1" dirty="0">
                <a:latin typeface="+mj-ea"/>
                <a:ea typeface="+mj-ea"/>
              </a:rPr>
              <a:t>Bonus</a:t>
            </a:r>
            <a:r>
              <a:rPr kumimoji="1" lang="zh-CN" altLang="en-US" sz="1500" b="1" dirty="0">
                <a:latin typeface="+mj-ea"/>
                <a:ea typeface="+mj-ea"/>
              </a:rPr>
              <a:t>）</a:t>
            </a:r>
            <a:endParaRPr kumimoji="1" lang="en-US" altLang="zh-CN" sz="1500" b="1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进一步探索多智能体系统在更困难的</a:t>
            </a:r>
            <a:r>
              <a:rPr kumimoji="1" lang="en-US" altLang="zh-CN" sz="1300" dirty="0">
                <a:latin typeface="+mj-ea"/>
                <a:ea typeface="+mj-ea"/>
              </a:rPr>
              <a:t>bench</a:t>
            </a:r>
            <a:r>
              <a:rPr kumimoji="1" lang="zh-CN" altLang="en-US" sz="1300" dirty="0">
                <a:latin typeface="+mj-ea"/>
                <a:ea typeface="+mj-ea"/>
              </a:rPr>
              <a:t>上（包括但不限于</a:t>
            </a:r>
            <a:r>
              <a:rPr kumimoji="1" lang="en-US" altLang="zh-CN" sz="1300" dirty="0">
                <a:latin typeface="+mj-ea"/>
                <a:ea typeface="+mj-ea"/>
              </a:rPr>
              <a:t>AIME</a:t>
            </a:r>
            <a:r>
              <a:rPr kumimoji="1" lang="zh-CN" altLang="en-US" sz="1300" dirty="0">
                <a:latin typeface="+mj-ea"/>
                <a:ea typeface="+mj-ea"/>
              </a:rPr>
              <a:t> </a:t>
            </a:r>
            <a:r>
              <a:rPr kumimoji="1" lang="en-US" altLang="zh-CN" sz="1300" dirty="0">
                <a:latin typeface="+mj-ea"/>
                <a:ea typeface="+mj-ea"/>
              </a:rPr>
              <a:t>24/25</a:t>
            </a:r>
            <a:r>
              <a:rPr kumimoji="1" lang="zh-CN" altLang="en-US" sz="1300" dirty="0">
                <a:latin typeface="+mj-ea"/>
                <a:ea typeface="+mj-ea"/>
              </a:rPr>
              <a:t>）如何有效提升。</a:t>
            </a:r>
            <a:endParaRPr kumimoji="1" lang="en-US" altLang="zh-CN" sz="13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300" dirty="0">
                <a:latin typeface="+mj-ea"/>
                <a:ea typeface="+mj-ea"/>
              </a:rPr>
              <a:t>自行提出新的自动化构建多智能体系统的方案。</a:t>
            </a:r>
            <a:endParaRPr kumimoji="1" lang="en-US" altLang="zh-CN" sz="13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3298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基模使用方法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89A7EDA-C750-40E4-2BEB-B90F1EBF5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828802"/>
            <a:ext cx="8413750" cy="7902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课程将统一提供</a:t>
            </a:r>
            <a:r>
              <a:rPr lang="en-US" altLang="zh-C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kimi</a:t>
            </a:r>
            <a:r>
              <a: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代金券。请同学们使用</a:t>
            </a:r>
            <a:r>
              <a:rPr lang="en-US" altLang="zh-C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kimi-k2-0905-preview</a:t>
            </a:r>
            <a:r>
              <a: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作为基模，由于</a:t>
            </a:r>
            <a:r>
              <a:rPr lang="en-US" altLang="zh-C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token</a:t>
            </a:r>
            <a:r>
              <a:rPr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数量有限，请仅用于作业用途</a:t>
            </a:r>
            <a:r>
              <a:rPr lang="zh-CN" altLang="en-US" sz="1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rPr>
              <a:t>。代金券将于本周内在课程群中发布，其</a:t>
            </a:r>
            <a:r>
              <a:rPr kumimoji="1" lang="zh-CN" alt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使用</a:t>
            </a:r>
            <a:r>
              <a:rPr kumimoji="1" lang="zh-CN" altLang="en-US" sz="1500" dirty="0">
                <a:latin typeface="+mj-ea"/>
                <a:ea typeface="+mj-ea"/>
              </a:rPr>
              <a:t>方法如下：</a:t>
            </a:r>
            <a:endParaRPr kumimoji="1" lang="en-US" altLang="zh-CN" sz="1500" dirty="0">
              <a:latin typeface="+mj-ea"/>
              <a:ea typeface="+mj-ea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18C9C14-AF8F-3E6F-B2C5-D3A27D939014}"/>
              </a:ext>
            </a:extLst>
          </p:cNvPr>
          <p:cNvSpPr txBox="1">
            <a:spLocks/>
          </p:cNvSpPr>
          <p:nvPr/>
        </p:nvSpPr>
        <p:spPr>
          <a:xfrm>
            <a:off x="637971" y="1619075"/>
            <a:ext cx="8413750" cy="6103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SzPct val="6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40000"/>
              <a:buFont typeface="Wingdings" pitchFamily="2" charset="2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步骤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：登录平台并注册账号 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kumimoji="1" lang="e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Kimi API 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开放平台完成个人账号注册：</a:t>
            </a:r>
            <a:r>
              <a:rPr kumimoji="1" lang="en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platform.kimi.com</a:t>
            </a:r>
            <a:endParaRPr kumimoji="1"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步骤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：进入代金券管理页面 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登录成功后，点击顶部导航栏「用户中心」 </a:t>
            </a:r>
            <a:endParaRPr kumimoji="1"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在左侧菜单栏选择「代金券管理」</a:t>
            </a:r>
            <a:endParaRPr kumimoji="1"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步骤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：执行兑换操作 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70000"/>
              </a:lnSpc>
            </a:pPr>
            <a:r>
              <a:rPr lang="zh-CN" altLang="zh-CN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在代金券管理页面右上角，点击「</a:t>
            </a:r>
            <a:r>
              <a:rPr lang="zh-CN" altLang="zh-CN" sz="1200" b="1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兑换代金券</a:t>
            </a:r>
            <a:r>
              <a:rPr lang="zh-CN" altLang="zh-CN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」按钮</a:t>
            </a:r>
            <a:endParaRPr lang="en-US" altLang="zh-CN" sz="1200" kern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70000"/>
              </a:lnSpc>
            </a:pPr>
            <a:r>
              <a:rPr lang="zh-CN" altLang="en-US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在弹出的兑换窗口中输入代金券兑换码，并点击「</a:t>
            </a:r>
            <a:r>
              <a:rPr lang="zh-CN" altLang="en-US" sz="1200" b="1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确定</a:t>
            </a:r>
            <a:r>
              <a:rPr lang="zh-CN" altLang="en-US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」按钮提交</a:t>
            </a:r>
            <a:endParaRPr kumimoji="1"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步骤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：确认兑换结果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70000"/>
              </a:lnSpc>
            </a:pPr>
            <a:r>
              <a:rPr lang="zh-CN" altLang="en-US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兑换成功后，系统将弹出提示</a:t>
            </a:r>
            <a:endParaRPr lang="en-US" altLang="zh-CN" sz="1200" kern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70000"/>
              </a:lnSpc>
            </a:pPr>
            <a:r>
              <a:rPr lang="zh-CN" altLang="en-US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代金券将自动添加到「</a:t>
            </a:r>
            <a:r>
              <a:rPr lang="zh-CN" altLang="en-US" sz="1200" b="1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待使用</a:t>
            </a:r>
            <a:r>
              <a:rPr lang="zh-CN" altLang="en-US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」列表中 </a:t>
            </a:r>
            <a:endParaRPr lang="en-US" altLang="zh-CN" sz="1200" kern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70000"/>
              </a:lnSpc>
            </a:pPr>
            <a:r>
              <a:rPr lang="zh-CN" altLang="en-US" sz="1200" kern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宋体" panose="02010600030101010101" pitchFamily="2" charset="-122"/>
              </a:rPr>
              <a:t>可在账号管理页面查看已充值对应金额 </a:t>
            </a:r>
            <a:endParaRPr lang="en-US" altLang="zh-CN" sz="1200" kern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94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F44EC2-E9B0-43BB-9A7B-2299B0462C8B}"/>
              </a:ext>
            </a:extLst>
          </p:cNvPr>
          <p:cNvSpPr/>
          <p:nvPr/>
        </p:nvSpPr>
        <p:spPr>
          <a:xfrm>
            <a:off x="531874" y="1554115"/>
            <a:ext cx="8145466" cy="289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+mj-ea"/>
                <a:ea typeface="+mj-ea"/>
              </a:rPr>
              <a:t>[1] 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Zhang, 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Jiayi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“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Aflow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Automating agentic workflow generation.” ICLR 25. 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+mj-ea"/>
                <a:ea typeface="+mj-ea"/>
              </a:rPr>
              <a:t>[2] 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Du, </a:t>
            </a:r>
            <a:r>
              <a:rPr lang="en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Yilun</a:t>
            </a:r>
            <a:r>
              <a:rPr lang="en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"Improving factuality and reasoning in language models through multiagent debate." Forty-first international conference on machine learning. 2024.</a:t>
            </a:r>
          </a:p>
          <a:p>
            <a:pPr>
              <a:lnSpc>
                <a:spcPct val="150000"/>
              </a:lnSpc>
            </a:pPr>
            <a:endParaRPr lang="en" altLang="zh-CN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22222"/>
                </a:solidFill>
                <a:latin typeface="Arial" panose="020B0604020202020204" pitchFamily="34" charset="0"/>
              </a:rPr>
              <a:t>[3] </a:t>
            </a:r>
            <a:r>
              <a:rPr lang="en" altLang="zh-CN" sz="160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Zhuge</a:t>
            </a:r>
            <a:r>
              <a:rPr lang="en" altLang="zh-CN" sz="16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" altLang="zh-CN" sz="160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Mingchen</a:t>
            </a:r>
            <a:r>
              <a:rPr lang="en" altLang="zh-CN" sz="16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</a:t>
            </a:r>
            <a:r>
              <a:rPr lang="en" altLang="zh-CN" sz="1600" b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Gptswarm</a:t>
            </a:r>
            <a:r>
              <a:rPr lang="en" altLang="zh-CN" sz="16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Language agents as optimizable graphs." Forty-first International Conference on Machine Learning. 2024.</a:t>
            </a: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851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54623B6-0942-4EEC-8E77-97957BADAAE4}"/>
              </a:ext>
            </a:extLst>
          </p:cNvPr>
          <p:cNvSpPr/>
          <p:nvPr/>
        </p:nvSpPr>
        <p:spPr>
          <a:xfrm>
            <a:off x="-2" y="1991209"/>
            <a:ext cx="9144000" cy="2479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24EFE0-6DEB-487F-AC9A-DD1D508E9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22" y="2180288"/>
            <a:ext cx="9144000" cy="21011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</a:rPr>
              <a:t>提交说明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E2C5C1-9E4D-450E-881E-165D273403C0}"/>
              </a:ext>
            </a:extLst>
          </p:cNvPr>
          <p:cNvCxnSpPr>
            <a:cxnSpLocks/>
          </p:cNvCxnSpPr>
          <p:nvPr/>
        </p:nvCxnSpPr>
        <p:spPr>
          <a:xfrm flipH="1">
            <a:off x="3" y="1955463"/>
            <a:ext cx="91344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30613EC-657A-4ACF-8839-DD7D4C834665}"/>
              </a:ext>
            </a:extLst>
          </p:cNvPr>
          <p:cNvCxnSpPr>
            <a:cxnSpLocks/>
          </p:cNvCxnSpPr>
          <p:nvPr/>
        </p:nvCxnSpPr>
        <p:spPr>
          <a:xfrm flipH="1" flipV="1">
            <a:off x="1" y="2234300"/>
            <a:ext cx="5920897" cy="55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5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48E2D-2D6D-E549-A9C8-B06D34D6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74" y="259976"/>
            <a:ext cx="8416925" cy="587312"/>
          </a:xfrm>
        </p:spPr>
        <p:txBody>
          <a:bodyPr/>
          <a:lstStyle/>
          <a:p>
            <a:r>
              <a:rPr kumimoji="1" lang="zh-CN" altLang="en-US" dirty="0"/>
              <a:t>提交说明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CE72C-5445-1644-9610-8CB3F4F5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31" y="1106940"/>
            <a:ext cx="8413750" cy="43021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最终提交内容需对于每个作业，将以下几部分压缩打包命名为“学号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姓名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作业名称”。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en-US" altLang="zh-CN" sz="1400" b="1" dirty="0">
                <a:latin typeface="+mj-ea"/>
                <a:ea typeface="+mj-ea"/>
              </a:rPr>
              <a:t>1.</a:t>
            </a:r>
            <a:r>
              <a:rPr kumimoji="1" lang="zh-CN" altLang="en-US" sz="1400" b="1" dirty="0">
                <a:latin typeface="+mj-ea"/>
                <a:ea typeface="+mj-ea"/>
              </a:rPr>
              <a:t> 研究性报告</a:t>
            </a:r>
            <a:r>
              <a:rPr kumimoji="1" lang="zh-CN" altLang="en-US" sz="1400" dirty="0">
                <a:latin typeface="+mj-ea"/>
                <a:ea typeface="+mj-ea"/>
              </a:rPr>
              <a:t>，</a:t>
            </a:r>
            <a:r>
              <a:rPr kumimoji="1" lang="en-US" altLang="zh-CN" sz="1400" dirty="0">
                <a:latin typeface="+mj-ea"/>
                <a:ea typeface="+mj-ea"/>
              </a:rPr>
              <a:t>pdf</a:t>
            </a:r>
            <a:r>
              <a:rPr kumimoji="1" lang="zh-CN" altLang="en-US" sz="1400" dirty="0">
                <a:latin typeface="+mj-ea"/>
                <a:ea typeface="+mj-ea"/>
              </a:rPr>
              <a:t>形式，中英文皆可，页数无强制要求但建议不少于</a:t>
            </a:r>
            <a:r>
              <a:rPr kumimoji="1" lang="en-US" altLang="zh-CN" sz="1400" dirty="0">
                <a:latin typeface="+mj-ea"/>
                <a:ea typeface="+mj-ea"/>
              </a:rPr>
              <a:t>3</a:t>
            </a:r>
            <a:r>
              <a:rPr kumimoji="1" lang="zh-CN" altLang="en-US" sz="1400" dirty="0">
                <a:latin typeface="+mj-ea"/>
                <a:ea typeface="+mj-ea"/>
              </a:rPr>
              <a:t>页，内容包括但不限于每个作业要求的内容，必要时可配图说明，同时注意参考文献的引用。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en-US" altLang="zh-CN" sz="1400" dirty="0">
                <a:latin typeface="+mj-ea"/>
                <a:ea typeface="+mj-ea"/>
              </a:rPr>
              <a:t>      1</a:t>
            </a:r>
            <a:r>
              <a:rPr kumimoji="1" lang="zh-CN" altLang="en-US" sz="1400" dirty="0">
                <a:latin typeface="+mj-ea"/>
                <a:ea typeface="+mj-ea"/>
              </a:rPr>
              <a:t>）</a:t>
            </a:r>
            <a:r>
              <a:rPr kumimoji="1" lang="en-US" altLang="zh-CN" sz="1400" dirty="0">
                <a:latin typeface="+mj-ea"/>
                <a:ea typeface="+mj-ea"/>
              </a:rPr>
              <a:t>Latex</a:t>
            </a:r>
            <a:r>
              <a:rPr kumimoji="1" lang="zh-CN" altLang="en-US" sz="1400" dirty="0">
                <a:latin typeface="+mj-ea"/>
                <a:ea typeface="+mj-ea"/>
              </a:rPr>
              <a:t>版采用</a:t>
            </a:r>
            <a:r>
              <a:rPr kumimoji="1" lang="en-US" altLang="zh-CN" sz="1400" dirty="0">
                <a:latin typeface="+mj-ea"/>
                <a:ea typeface="+mj-ea"/>
              </a:rPr>
              <a:t>ICML2022</a:t>
            </a:r>
            <a:r>
              <a:rPr kumimoji="1" lang="zh-CN" altLang="en-US" sz="1400" dirty="0">
                <a:latin typeface="+mj-ea"/>
                <a:ea typeface="+mj-ea"/>
              </a:rPr>
              <a:t>模板    </a:t>
            </a:r>
            <a:r>
              <a:rPr kumimoji="1" lang="en-US" altLang="zh-CN" sz="1400" dirty="0">
                <a:latin typeface="+mj-ea"/>
                <a:ea typeface="+mj-ea"/>
              </a:rPr>
              <a:t>	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https://media.icml.cc/Conferences/ICML2022/Styles/icml2022.zip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）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en-US" altLang="zh-CN" sz="1400" dirty="0">
                <a:latin typeface="+mj-ea"/>
                <a:ea typeface="+mj-ea"/>
              </a:rPr>
              <a:t>      2</a:t>
            </a:r>
            <a:r>
              <a:rPr kumimoji="1" lang="zh-CN" altLang="en-US" sz="1400" dirty="0">
                <a:latin typeface="+mj-ea"/>
                <a:ea typeface="+mj-ea"/>
              </a:rPr>
              <a:t>）</a:t>
            </a:r>
            <a:r>
              <a:rPr kumimoji="1" lang="en-US" altLang="zh-CN" sz="1400" dirty="0">
                <a:latin typeface="+mj-ea"/>
                <a:ea typeface="+mj-ea"/>
              </a:rPr>
              <a:t>Word</a:t>
            </a:r>
            <a:r>
              <a:rPr kumimoji="1" lang="zh-CN" altLang="en-US" sz="1400" dirty="0">
                <a:latin typeface="+mj-ea"/>
                <a:ea typeface="+mj-ea"/>
              </a:rPr>
              <a:t>版无给定模板，但总体要求采用双栏，单倍行距。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字体：英文为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 New Roman 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，中文为宋体。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kumimoji="1" lang="en-US" altLang="zh-CN" sz="1400" dirty="0">
                <a:latin typeface="+mj-ea"/>
                <a:ea typeface="+mj-ea"/>
              </a:rPr>
              <a:t>      </a:t>
            </a:r>
            <a:r>
              <a:rPr kumimoji="1" lang="zh-CN" altLang="en-US" sz="1400" dirty="0">
                <a:latin typeface="+mj-ea"/>
                <a:ea typeface="+mj-ea"/>
              </a:rPr>
              <a:t>字体大小：总标题为三号，章节标题为四号，其他内容为五号。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en-US" altLang="zh-CN" sz="1400" b="1" dirty="0">
                <a:latin typeface="+mj-ea"/>
                <a:ea typeface="+mj-ea"/>
              </a:rPr>
              <a:t>2. </a:t>
            </a:r>
            <a:r>
              <a:rPr kumimoji="1" lang="zh-CN" altLang="en-US" sz="1400" b="1" dirty="0">
                <a:latin typeface="+mj-ea"/>
                <a:ea typeface="+mj-ea"/>
              </a:rPr>
              <a:t>补充材料 </a:t>
            </a:r>
            <a:r>
              <a:rPr kumimoji="1" lang="en-US" altLang="zh-CN" sz="1400" b="1" dirty="0">
                <a:latin typeface="+mj-ea"/>
                <a:ea typeface="+mj-ea"/>
              </a:rPr>
              <a:t>(</a:t>
            </a:r>
            <a:r>
              <a:rPr kumimoji="1" lang="zh-CN" altLang="en-US" sz="1400" b="1" dirty="0">
                <a:latin typeface="+mj-ea"/>
                <a:ea typeface="+mj-ea"/>
              </a:rPr>
              <a:t>非必须</a:t>
            </a:r>
            <a:r>
              <a:rPr kumimoji="1" lang="en-US" altLang="zh-CN" sz="1400" b="1" dirty="0">
                <a:latin typeface="+mj-ea"/>
                <a:ea typeface="+mj-ea"/>
              </a:rPr>
              <a:t>)</a:t>
            </a:r>
            <a:r>
              <a:rPr kumimoji="1" lang="zh-CN" altLang="en-US" sz="1400" b="1" dirty="0">
                <a:latin typeface="+mj-ea"/>
                <a:ea typeface="+mj-ea"/>
              </a:rPr>
              <a:t>，</a:t>
            </a:r>
            <a:r>
              <a:rPr kumimoji="1" lang="zh-CN" altLang="en-US" sz="1400" dirty="0">
                <a:latin typeface="+mj-ea"/>
                <a:ea typeface="+mj-ea"/>
              </a:rPr>
              <a:t>可包含你的代码实现、其他展示方法或性能的材料等等。</a:t>
            </a:r>
            <a:endParaRPr kumimoji="1" lang="en-US" altLang="zh-CN" sz="1400" dirty="0">
              <a:latin typeface="+mj-ea"/>
              <a:ea typeface="+mj-ea"/>
            </a:endParaRPr>
          </a:p>
          <a:p>
            <a:pPr lvl="1"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提交邮箱：</a:t>
            </a:r>
            <a:r>
              <a:rPr kumimoji="1" lang="en" altLang="zh-CN" sz="1400" dirty="0">
                <a:latin typeface="+mj-ea"/>
                <a:ea typeface="+mj-ea"/>
                <a:hlinkClick r:id="rId3"/>
              </a:rPr>
              <a:t>nicolas.epnos@gmail.com</a:t>
            </a:r>
            <a:endParaRPr kumimoji="1" lang="en" altLang="zh-CN" sz="1400" dirty="0">
              <a:latin typeface="+mj-ea"/>
              <a:ea typeface="+mj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11D5F3A-F0A4-4DD3-FCB6-6B18694BE68B}"/>
              </a:ext>
            </a:extLst>
          </p:cNvPr>
          <p:cNvSpPr txBox="1">
            <a:spLocks/>
          </p:cNvSpPr>
          <p:nvPr/>
        </p:nvSpPr>
        <p:spPr>
          <a:xfrm>
            <a:off x="535049" y="5370387"/>
            <a:ext cx="8413750" cy="1005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SzPct val="6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40000"/>
              <a:buFont typeface="Wingdings" pitchFamily="2" charset="2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kumimoji="1" lang="zh-CN" altLang="en-US" sz="1400" dirty="0">
                <a:latin typeface="+mj-ea"/>
                <a:ea typeface="+mj-ea"/>
              </a:rPr>
              <a:t>可以每个作业分开提交也可以一起提交。如果一起提交，需要将所有的作业分别按照“学号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姓名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作业名称” 打包成各自的压缩包，然后再打包成一个大压缩包，命名为“学号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姓名</a:t>
            </a:r>
            <a:r>
              <a:rPr kumimoji="1" lang="en-US" altLang="zh-CN" sz="1400" dirty="0">
                <a:latin typeface="+mj-ea"/>
                <a:ea typeface="+mj-ea"/>
              </a:rPr>
              <a:t>+</a:t>
            </a:r>
            <a:r>
              <a:rPr kumimoji="1" lang="zh-CN" altLang="en-US" sz="1400" dirty="0">
                <a:latin typeface="+mj-ea"/>
                <a:ea typeface="+mj-ea"/>
              </a:rPr>
              <a:t>所有作业”提交 。</a:t>
            </a:r>
            <a:endParaRPr kumimoji="1"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598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02DFA7E-537E-183B-C3EF-264BF3E4C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82423"/>
            <a:ext cx="7772400" cy="2387600"/>
          </a:xfrm>
        </p:spPr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3248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09d88408-4af6-444c-a89e-2b89744bb4b1&quot;,&quot;Name&quot;:&quot;无&quot;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AE0E14"/>
      </a:accent1>
      <a:accent2>
        <a:srgbClr val="B20C15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31361</TotalTime>
  <Words>915</Words>
  <Application>Microsoft Macintosh PowerPoint</Application>
  <PresentationFormat>全屏显示(4:3)</PresentationFormat>
  <Paragraphs>50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阿里巴巴普惠体 R</vt:lpstr>
      <vt:lpstr>等线</vt:lpstr>
      <vt:lpstr>Microsoft YaHei</vt:lpstr>
      <vt:lpstr>Microsoft YaHei</vt:lpstr>
      <vt:lpstr>Arial</vt:lpstr>
      <vt:lpstr>Times New Roman</vt:lpstr>
      <vt:lpstr>Wingdings</vt:lpstr>
      <vt:lpstr>Office 主题​​</vt:lpstr>
      <vt:lpstr>多智能体系统作业： 多智能体工作流设计</vt:lpstr>
      <vt:lpstr>实验环境 </vt:lpstr>
      <vt:lpstr>具体内容</vt:lpstr>
      <vt:lpstr>基模使用方法</vt:lpstr>
      <vt:lpstr>参考文献</vt:lpstr>
      <vt:lpstr>提交说明</vt:lpstr>
      <vt:lpstr>提交说明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标题在这里</dc:title>
  <dc:creator>SHEN Xiaodan</dc:creator>
  <cp:lastModifiedBy>Yongqian Peng</cp:lastModifiedBy>
  <cp:revision>522</cp:revision>
  <dcterms:created xsi:type="dcterms:W3CDTF">2021-12-03T10:05:54Z</dcterms:created>
  <dcterms:modified xsi:type="dcterms:W3CDTF">2026-05-30T04:40:51Z</dcterms:modified>
</cp:coreProperties>
</file>